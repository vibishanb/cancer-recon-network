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4572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9144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13716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18288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22860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27432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32004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36576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 b="def" i="def"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5" name="Shape 13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270000" y="50419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iew of beach and sea from a grassy sand dune"/>
          <p:cNvSpPr/>
          <p:nvPr>
            <p:ph type="pic" idx="21"/>
          </p:nvPr>
        </p:nvSpPr>
        <p:spPr>
          <a:xfrm>
            <a:off x="1625600" y="374650"/>
            <a:ext cx="9753600" cy="6502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Title Text"/>
          <p:cNvSpPr txBox="1"/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sz="quarter" idx="1"/>
          </p:nvPr>
        </p:nvSpPr>
        <p:spPr>
          <a:xfrm>
            <a:off x="1270000" y="81534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Cen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/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Heron flying low over a beach with a short fence in the foreground"/>
          <p:cNvSpPr/>
          <p:nvPr>
            <p:ph type="pic" idx="21"/>
          </p:nvPr>
        </p:nvSpPr>
        <p:spPr>
          <a:xfrm>
            <a:off x="6375400" y="635000"/>
            <a:ext cx="8216900" cy="8216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Title Text"/>
          <p:cNvSpPr txBox="1"/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40" name="Body Level One…"/>
          <p:cNvSpPr txBox="1"/>
          <p:nvPr>
            <p:ph type="body" sz="quarter" idx="1"/>
          </p:nvPr>
        </p:nvSpPr>
        <p:spPr>
          <a:xfrm>
            <a:off x="952500" y="4724400"/>
            <a:ext cx="5334000" cy="41148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7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andy path between two hills leading to the ocean"/>
          <p:cNvSpPr/>
          <p:nvPr>
            <p:ph type="pic" idx="21"/>
          </p:nvPr>
        </p:nvSpPr>
        <p:spPr>
          <a:xfrm>
            <a:off x="3810000" y="2590800"/>
            <a:ext cx="9429750" cy="6286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7" name="Body Level One…"/>
          <p:cNvSpPr txBox="1"/>
          <p:nvPr>
            <p:ph type="body" sz="half" idx="1"/>
          </p:nvPr>
        </p:nvSpPr>
        <p:spPr>
          <a:xfrm>
            <a:off x="952500" y="25908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/>
          <p:nvPr>
            <p:ph type="sldNum" sz="quarter" idx="2"/>
          </p:nvPr>
        </p:nvSpPr>
        <p:spPr>
          <a:xfrm>
            <a:off x="6328884" y="9296400"/>
            <a:ext cx="340259" cy="3429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76" name="Body Level One…"/>
          <p:cNvSpPr txBox="1"/>
          <p:nvPr>
            <p:ph type="body" sz="half" idx="1"/>
          </p:nvPr>
        </p:nvSpPr>
        <p:spPr>
          <a:xfrm>
            <a:off x="952500" y="25908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7" name="Slide Number"/>
          <p:cNvSpPr txBox="1"/>
          <p:nvPr>
            <p:ph type="sldNum" sz="quarter" idx="2"/>
          </p:nvPr>
        </p:nvSpPr>
        <p:spPr>
          <a:xfrm>
            <a:off x="6328884" y="9296400"/>
            <a:ext cx="340259" cy="3429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85" name="Body Level One…"/>
          <p:cNvSpPr txBox="1"/>
          <p:nvPr>
            <p:ph type="body" sz="half" idx="1"/>
          </p:nvPr>
        </p:nvSpPr>
        <p:spPr>
          <a:xfrm>
            <a:off x="952500" y="25908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6" name="Slide Number"/>
          <p:cNvSpPr txBox="1"/>
          <p:nvPr>
            <p:ph type="sldNum" sz="quarter" idx="2"/>
          </p:nvPr>
        </p:nvSpPr>
        <p:spPr>
          <a:xfrm>
            <a:off x="6328884" y="9296400"/>
            <a:ext cx="340259" cy="3429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Body Level One…"/>
          <p:cNvSpPr txBox="1"/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andy path between two hills leading to the ocean"/>
          <p:cNvSpPr/>
          <p:nvPr>
            <p:ph type="pic" sz="quarter" idx="21"/>
          </p:nvPr>
        </p:nvSpPr>
        <p:spPr>
          <a:xfrm>
            <a:off x="6556375" y="5092700"/>
            <a:ext cx="5657850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2" name="Heron flying low over a beach with a short fence in the foreground"/>
          <p:cNvSpPr/>
          <p:nvPr>
            <p:ph type="pic" sz="half" idx="22"/>
          </p:nvPr>
        </p:nvSpPr>
        <p:spPr>
          <a:xfrm>
            <a:off x="6718300" y="749300"/>
            <a:ext cx="5334000" cy="5334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3" name="View of beach and sea from a grassy sand dune"/>
          <p:cNvSpPr/>
          <p:nvPr>
            <p:ph type="pic" idx="23"/>
          </p:nvPr>
        </p:nvSpPr>
        <p:spPr>
          <a:xfrm>
            <a:off x="-2832100" y="889000"/>
            <a:ext cx="11963400" cy="7975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–Johnny Appleseed"/>
          <p:cNvSpPr txBox="1"/>
          <p:nvPr>
            <p:ph type="body" sz="quarter" idx="21"/>
          </p:nvPr>
        </p:nvSpPr>
        <p:spPr>
          <a:xfrm>
            <a:off x="1270000" y="6362700"/>
            <a:ext cx="10464800" cy="461366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i="1" sz="2400"/>
            </a:lvl1pPr>
          </a:lstStyle>
          <a:p>
            <a:pPr/>
            <a:r>
              <a:t>–Johnny Appleseed</a:t>
            </a:r>
          </a:p>
        </p:txBody>
      </p:sp>
      <p:sp>
        <p:nvSpPr>
          <p:cNvPr id="112" name="“Type a quote here.”"/>
          <p:cNvSpPr txBox="1"/>
          <p:nvPr>
            <p:ph type="body" sz="quarter" idx="22"/>
          </p:nvPr>
        </p:nvSpPr>
        <p:spPr>
          <a:xfrm>
            <a:off x="1270000" y="4267112"/>
            <a:ext cx="10464800" cy="609776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4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“Type a quote here.” </a:t>
            </a:r>
          </a:p>
        </p:txBody>
      </p:sp>
      <p:sp>
        <p:nvSpPr>
          <p:cNvPr id="1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View of beach and sea from a grassy sand dune"/>
          <p:cNvSpPr/>
          <p:nvPr>
            <p:ph type="pic" idx="21"/>
          </p:nvPr>
        </p:nvSpPr>
        <p:spPr>
          <a:xfrm>
            <a:off x="-1308100" y="-50800"/>
            <a:ext cx="14782800" cy="98552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ctr">
              <a:spcBef>
                <a:spcPts val="0"/>
              </a:spcBef>
              <a:defRPr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transition xmlns:p14="http://schemas.microsoft.com/office/powerpoint/2010/main" spd="med" advClick="1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Relationship Id="rId3" Type="http://schemas.openxmlformats.org/officeDocument/2006/relationships/image" Target="../media/image15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Figure plan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Figure plan</a:t>
            </a:r>
          </a:p>
        </p:txBody>
      </p:sp>
      <p:sp>
        <p:nvSpPr>
          <p:cNvPr id="138" name="B Vibishan, Akshit Goyal &amp; Mohit Kumar Jolly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 Vibishan, Akshit Goyal &amp; Mohit Kumar Jolly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diet-scatter-HT29.png" descr="diet-scatter-HT29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636332" y="1146993"/>
            <a:ext cx="3987920" cy="3444113"/>
          </a:xfrm>
          <a:prstGeom prst="rect">
            <a:avLst/>
          </a:prstGeom>
          <a:ln w="12700">
            <a:miter lim="400000"/>
          </a:ln>
        </p:spPr>
      </p:pic>
      <p:sp>
        <p:nvSpPr>
          <p:cNvPr id="141" name="Figure 1: Power law statistics"/>
          <p:cNvSpPr txBox="1"/>
          <p:nvPr>
            <p:ph type="title"/>
          </p:nvPr>
        </p:nvSpPr>
        <p:spPr>
          <a:xfrm>
            <a:off x="952500" y="-61449"/>
            <a:ext cx="11099800" cy="1131779"/>
          </a:xfrm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pPr/>
            <a:r>
              <a:t>Figure 1: Power law statistics</a:t>
            </a:r>
          </a:p>
        </p:txBody>
      </p:sp>
      <p:pic>
        <p:nvPicPr>
          <p:cNvPr id="142" name="diet-scatter-UACC-257.png" descr="diet-scatter-UACC-257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934943" y="1146993"/>
            <a:ext cx="3987921" cy="3444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50" name="Group"/>
          <p:cNvGrpSpPr/>
          <p:nvPr/>
        </p:nvGrpSpPr>
        <p:grpSpPr>
          <a:xfrm>
            <a:off x="940050" y="909892"/>
            <a:ext cx="3543119" cy="9511589"/>
            <a:chOff x="0" y="0"/>
            <a:chExt cx="3543118" cy="9511587"/>
          </a:xfrm>
        </p:grpSpPr>
        <p:pic>
          <p:nvPicPr>
            <p:cNvPr id="143" name="slopes-forest-plot.png" descr="slopes-forest-plot.png"/>
            <p:cNvPicPr>
              <a:picLocks noChangeAspect="1"/>
            </p:cNvPicPr>
            <p:nvPr/>
          </p:nvPicPr>
          <p:blipFill>
            <a:blip r:embed="rId4">
              <a:extLst/>
            </a:blip>
            <a:srcRect l="0" t="3933" r="0" b="0"/>
            <a:stretch>
              <a:fillRect/>
            </a:stretch>
          </p:blipFill>
          <p:spPr>
            <a:xfrm>
              <a:off x="0" y="0"/>
              <a:ext cx="3543119" cy="88116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146" name="Group"/>
            <p:cNvGrpSpPr/>
            <p:nvPr/>
          </p:nvGrpSpPr>
          <p:grpSpPr>
            <a:xfrm>
              <a:off x="1244441" y="48013"/>
              <a:ext cx="2227925" cy="5894876"/>
              <a:chOff x="0" y="0"/>
              <a:chExt cx="2227923" cy="5894874"/>
            </a:xfrm>
          </p:grpSpPr>
          <p:sp>
            <p:nvSpPr>
              <p:cNvPr id="144" name="Rectangle"/>
              <p:cNvSpPr/>
              <p:nvPr/>
            </p:nvSpPr>
            <p:spPr>
              <a:xfrm>
                <a:off x="0" y="0"/>
                <a:ext cx="2227924" cy="4785679"/>
              </a:xfrm>
              <a:prstGeom prst="rect">
                <a:avLst/>
              </a:prstGeom>
              <a:solidFill>
                <a:schemeClr val="accent3">
                  <a:alpha val="29544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b">
                <a:noAutofit/>
              </a:bodyPr>
              <a:lstStyle/>
              <a:p>
                <a:pPr>
                  <a:defRPr sz="800">
                    <a:solidFill>
                      <a:schemeClr val="accent3">
                        <a:hueOff val="914337"/>
                        <a:satOff val="31515"/>
                        <a:lumOff val="-30790"/>
                      </a:schemeClr>
                    </a:solidFill>
                  </a:defRPr>
                </a:pPr>
              </a:p>
            </p:txBody>
          </p:sp>
          <p:sp>
            <p:nvSpPr>
              <p:cNvPr id="145" name="Sublinear"/>
              <p:cNvSpPr/>
              <p:nvPr/>
            </p:nvSpPr>
            <p:spPr>
              <a:xfrm>
                <a:off x="10998" y="4624874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b="1" sz="1000">
                    <a:solidFill>
                      <a:schemeClr val="accent3">
                        <a:hueOff val="914337"/>
                        <a:satOff val="31515"/>
                        <a:lumOff val="-30790"/>
                      </a:schemeClr>
                    </a:solidFill>
                  </a:defRPr>
                </a:lvl1pPr>
              </a:lstStyle>
              <a:p>
                <a:pPr/>
                <a:r>
                  <a:t>Sublinear</a:t>
                </a:r>
              </a:p>
            </p:txBody>
          </p:sp>
        </p:grpSp>
        <p:grpSp>
          <p:nvGrpSpPr>
            <p:cNvPr id="149" name="Group"/>
            <p:cNvGrpSpPr/>
            <p:nvPr/>
          </p:nvGrpSpPr>
          <p:grpSpPr>
            <a:xfrm>
              <a:off x="1244441" y="4835913"/>
              <a:ext cx="2227925" cy="4675675"/>
              <a:chOff x="0" y="0"/>
              <a:chExt cx="2227923" cy="4675674"/>
            </a:xfrm>
          </p:grpSpPr>
          <p:sp>
            <p:nvSpPr>
              <p:cNvPr id="147" name="Rectangle"/>
              <p:cNvSpPr/>
              <p:nvPr/>
            </p:nvSpPr>
            <p:spPr>
              <a:xfrm>
                <a:off x="0" y="0"/>
                <a:ext cx="2227924" cy="3541974"/>
              </a:xfrm>
              <a:prstGeom prst="rect">
                <a:avLst/>
              </a:prstGeom>
              <a:solidFill>
                <a:srgbClr val="929292">
                  <a:alpha val="29544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b">
                <a:noAutofit/>
              </a:bodyPr>
              <a:lstStyle/>
              <a:p>
                <a:pPr>
                  <a:defRPr sz="800">
                    <a:solidFill>
                      <a:schemeClr val="accent5">
                        <a:hueOff val="-152896"/>
                        <a:lumOff val="12368"/>
                      </a:schemeClr>
                    </a:solidFill>
                  </a:defRPr>
                </a:pPr>
              </a:p>
            </p:txBody>
          </p:sp>
          <p:sp>
            <p:nvSpPr>
              <p:cNvPr id="148" name="Linear"/>
              <p:cNvSpPr/>
              <p:nvPr/>
            </p:nvSpPr>
            <p:spPr>
              <a:xfrm>
                <a:off x="10998" y="3405674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b="1" sz="1000">
                    <a:solidFill>
                      <a:srgbClr val="5E5E5E"/>
                    </a:solidFill>
                  </a:defRPr>
                </a:lvl1pPr>
              </a:lstStyle>
              <a:p>
                <a:pPr/>
                <a:r>
                  <a:t>Linear</a:t>
                </a:r>
              </a:p>
            </p:txBody>
          </p:sp>
        </p:grpSp>
      </p:grpSp>
      <p:sp>
        <p:nvSpPr>
          <p:cNvPr id="151" name="A"/>
          <p:cNvSpPr txBox="1"/>
          <p:nvPr/>
        </p:nvSpPr>
        <p:spPr>
          <a:xfrm>
            <a:off x="802617" y="885669"/>
            <a:ext cx="278893" cy="399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/>
            </a:lvl1pPr>
          </a:lstStyle>
          <a:p>
            <a:pPr/>
            <a:r>
              <a:t>A</a:t>
            </a:r>
          </a:p>
        </p:txBody>
      </p:sp>
      <p:sp>
        <p:nvSpPr>
          <p:cNvPr id="152" name="B"/>
          <p:cNvSpPr txBox="1"/>
          <p:nvPr/>
        </p:nvSpPr>
        <p:spPr>
          <a:xfrm>
            <a:off x="4752317" y="885669"/>
            <a:ext cx="288291" cy="399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/>
            </a:lvl1pPr>
          </a:lstStyle>
          <a:p>
            <a:pPr/>
            <a:r>
              <a:t>B</a:t>
            </a:r>
          </a:p>
        </p:txBody>
      </p:sp>
      <p:sp>
        <p:nvSpPr>
          <p:cNvPr id="153" name="C"/>
          <p:cNvSpPr txBox="1"/>
          <p:nvPr/>
        </p:nvSpPr>
        <p:spPr>
          <a:xfrm>
            <a:off x="4752317" y="4962369"/>
            <a:ext cx="297689" cy="399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/>
            </a:lvl1pPr>
          </a:lstStyle>
          <a:p>
            <a:pPr/>
            <a:r>
              <a:t>C</a:t>
            </a:r>
          </a:p>
        </p:txBody>
      </p:sp>
      <p:pic>
        <p:nvPicPr>
          <p:cNvPr id="154" name="distribution-of-slopes.png" descr="distribution-of-slopes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319154" y="5089961"/>
            <a:ext cx="7159333" cy="428815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Figure 2: 1-celltype, A549-ATCC"/>
          <p:cNvSpPr txBox="1"/>
          <p:nvPr>
            <p:ph type="title"/>
          </p:nvPr>
        </p:nvSpPr>
        <p:spPr>
          <a:xfrm>
            <a:off x="952500" y="-35827"/>
            <a:ext cx="11099800" cy="805699"/>
          </a:xfrm>
          <a:prstGeom prst="rect">
            <a:avLst/>
          </a:prstGeom>
        </p:spPr>
        <p:txBody>
          <a:bodyPr/>
          <a:lstStyle>
            <a:lvl1pPr>
              <a:defRPr sz="3700"/>
            </a:lvl1pPr>
          </a:lstStyle>
          <a:p>
            <a:pPr/>
            <a:r>
              <a:t>Figure 2: 1-celltype, A549-ATCC</a:t>
            </a:r>
          </a:p>
        </p:txBody>
      </p:sp>
      <p:sp>
        <p:nvSpPr>
          <p:cNvPr id="157" name="A"/>
          <p:cNvSpPr txBox="1"/>
          <p:nvPr/>
        </p:nvSpPr>
        <p:spPr>
          <a:xfrm>
            <a:off x="112555" y="1260586"/>
            <a:ext cx="278893" cy="399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/>
            </a:lvl1pPr>
          </a:lstStyle>
          <a:p>
            <a:pPr/>
            <a:r>
              <a:t>A</a:t>
            </a:r>
          </a:p>
        </p:txBody>
      </p:sp>
      <p:sp>
        <p:nvSpPr>
          <p:cNvPr id="158" name="C"/>
          <p:cNvSpPr txBox="1"/>
          <p:nvPr/>
        </p:nvSpPr>
        <p:spPr>
          <a:xfrm>
            <a:off x="8009555" y="1567145"/>
            <a:ext cx="297689" cy="399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/>
            </a:lvl1pPr>
          </a:lstStyle>
          <a:p>
            <a:pPr/>
            <a:r>
              <a:t>C</a:t>
            </a:r>
          </a:p>
        </p:txBody>
      </p:sp>
      <p:sp>
        <p:nvSpPr>
          <p:cNvPr id="159" name="ii. Reward = 0.01; Penalty = 0.01"/>
          <p:cNvSpPr txBox="1"/>
          <p:nvPr/>
        </p:nvSpPr>
        <p:spPr>
          <a:xfrm>
            <a:off x="8452265" y="5584316"/>
            <a:ext cx="2876551" cy="3121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500"/>
            </a:lvl1pPr>
          </a:lstStyle>
          <a:p>
            <a:pPr/>
            <a:r>
              <a:t>ii. Reward = 0.01; Penalty = 0.01</a:t>
            </a:r>
          </a:p>
        </p:txBody>
      </p:sp>
      <p:pic>
        <p:nvPicPr>
          <p:cNvPr id="160" name="reward-0.0-penalty-0.0network-predictions.png" descr="reward-0.0-penalty-0.0network-prediction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3328" y="1239707"/>
            <a:ext cx="8049848" cy="5174903"/>
          </a:xfrm>
          <a:prstGeom prst="rect">
            <a:avLst/>
          </a:prstGeom>
          <a:ln w="12700">
            <a:miter lim="400000"/>
          </a:ln>
        </p:spPr>
      </p:pic>
      <p:sp>
        <p:nvSpPr>
          <p:cNvPr id="161" name="i. Reward = 0; Penalty = 0"/>
          <p:cNvSpPr txBox="1"/>
          <p:nvPr/>
        </p:nvSpPr>
        <p:spPr>
          <a:xfrm>
            <a:off x="8479868" y="1817805"/>
            <a:ext cx="2304670" cy="312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500"/>
            </a:lvl1pPr>
          </a:lstStyle>
          <a:p>
            <a:pPr/>
            <a:r>
              <a:t>i. Reward = 0; Penalty = 0</a:t>
            </a:r>
          </a:p>
        </p:txBody>
      </p:sp>
      <p:pic>
        <p:nvPicPr>
          <p:cNvPr id="162" name="reward-0.0-penalty0.0prediction-comparison.png" descr="reward-0.0-penalty0.0prediction-comparison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139634" y="2275195"/>
            <a:ext cx="4604586" cy="2631192"/>
          </a:xfrm>
          <a:prstGeom prst="rect">
            <a:avLst/>
          </a:prstGeom>
          <a:ln w="12700">
            <a:miter lim="400000"/>
          </a:ln>
        </p:spPr>
      </p:pic>
      <p:pic>
        <p:nvPicPr>
          <p:cNvPr id="163" name="reward-0.01-penalty0.01prediction-comparison.png" descr="reward-0.01-penalty0.01prediction-comparison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139634" y="6026508"/>
            <a:ext cx="4604586" cy="2631192"/>
          </a:xfrm>
          <a:prstGeom prst="rect">
            <a:avLst/>
          </a:prstGeom>
          <a:ln w="12700">
            <a:miter lim="400000"/>
          </a:ln>
        </p:spPr>
      </p:pic>
      <p:pic>
        <p:nvPicPr>
          <p:cNvPr id="164" name="sensitivity-penalty-cross-reward-npred.png" descr="sensitivity-penalty-cross-reward-npred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43597" y="6469772"/>
            <a:ext cx="7809447" cy="3218179"/>
          </a:xfrm>
          <a:prstGeom prst="rect">
            <a:avLst/>
          </a:prstGeom>
          <a:ln w="12700">
            <a:miter lim="400000"/>
          </a:ln>
        </p:spPr>
      </p:pic>
      <p:sp>
        <p:nvSpPr>
          <p:cNvPr id="165" name="B"/>
          <p:cNvSpPr txBox="1"/>
          <p:nvPr/>
        </p:nvSpPr>
        <p:spPr>
          <a:xfrm>
            <a:off x="112555" y="6353287"/>
            <a:ext cx="288291" cy="399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/>
            </a:lvl1pPr>
          </a:lstStyle>
          <a:p>
            <a:pPr/>
            <a:r>
              <a:t>B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Extended Figure 2: 1-celltype model"/>
          <p:cNvSpPr txBox="1"/>
          <p:nvPr>
            <p:ph type="title"/>
          </p:nvPr>
        </p:nvSpPr>
        <p:spPr>
          <a:xfrm>
            <a:off x="952500" y="-35827"/>
            <a:ext cx="11099800" cy="805699"/>
          </a:xfrm>
          <a:prstGeom prst="rect">
            <a:avLst/>
          </a:prstGeom>
        </p:spPr>
        <p:txBody>
          <a:bodyPr/>
          <a:lstStyle>
            <a:lvl1pPr>
              <a:defRPr sz="3700"/>
            </a:lvl1pPr>
          </a:lstStyle>
          <a:p>
            <a:pPr/>
            <a:r>
              <a:t>Extended Figure 2: 1-celltype model</a:t>
            </a:r>
          </a:p>
        </p:txBody>
      </p:sp>
      <p:pic>
        <p:nvPicPr>
          <p:cNvPr id="168" name="reward-0.01-penalty-0.01network-predictions.png" descr="reward-0.01-penalty-0.01network-prediction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9200" y="941744"/>
            <a:ext cx="11586400" cy="827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ensitivity plots for the 1-celltype model"/>
          <p:cNvSpPr txBox="1"/>
          <p:nvPr>
            <p:ph type="title"/>
          </p:nvPr>
        </p:nvSpPr>
        <p:spPr>
          <a:xfrm>
            <a:off x="952500" y="-24043"/>
            <a:ext cx="11099800" cy="1115059"/>
          </a:xfrm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pPr/>
            <a:r>
              <a:t>Sensitivity plots for the 1-celltype model</a:t>
            </a:r>
          </a:p>
        </p:txBody>
      </p:sp>
      <p:sp>
        <p:nvSpPr>
          <p:cNvPr id="171" name="50 replicates for each point"/>
          <p:cNvSpPr txBox="1"/>
          <p:nvPr/>
        </p:nvSpPr>
        <p:spPr>
          <a:xfrm>
            <a:off x="4436148" y="900322"/>
            <a:ext cx="4132505" cy="4987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600"/>
            </a:lvl1pPr>
          </a:lstStyle>
          <a:p>
            <a:pPr/>
            <a:r>
              <a:t>50 replicates for each point</a:t>
            </a:r>
          </a:p>
        </p:txBody>
      </p:sp>
      <p:grpSp>
        <p:nvGrpSpPr>
          <p:cNvPr id="174" name="Group"/>
          <p:cNvGrpSpPr/>
          <p:nvPr/>
        </p:nvGrpSpPr>
        <p:grpSpPr>
          <a:xfrm>
            <a:off x="4181769" y="2147212"/>
            <a:ext cx="4641262" cy="3094174"/>
            <a:chOff x="0" y="0"/>
            <a:chExt cx="4641260" cy="3094173"/>
          </a:xfrm>
        </p:grpSpPr>
        <p:pic>
          <p:nvPicPr>
            <p:cNvPr id="172" name="sensitivity-plot-rmse-vs-penalty.png" descr="sensitivity-plot-rmse-vs-penalty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4641261" cy="309417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73" name="kT = 0.02, reward = 0"/>
            <p:cNvSpPr txBox="1"/>
            <p:nvPr/>
          </p:nvSpPr>
          <p:spPr>
            <a:xfrm>
              <a:off x="1709413" y="2238620"/>
              <a:ext cx="2410994" cy="3869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1900"/>
              </a:lvl1pPr>
            </a:lstStyle>
            <a:p>
              <a:pPr/>
              <a:r>
                <a:t>kT = 0.02, reward = 0</a:t>
              </a:r>
            </a:p>
          </p:txBody>
        </p:sp>
      </p:grpSp>
      <p:grpSp>
        <p:nvGrpSpPr>
          <p:cNvPr id="177" name="Group"/>
          <p:cNvGrpSpPr/>
          <p:nvPr/>
        </p:nvGrpSpPr>
        <p:grpSpPr>
          <a:xfrm>
            <a:off x="8457395" y="2147212"/>
            <a:ext cx="4641262" cy="3094174"/>
            <a:chOff x="0" y="0"/>
            <a:chExt cx="4641260" cy="3094173"/>
          </a:xfrm>
        </p:grpSpPr>
        <p:pic>
          <p:nvPicPr>
            <p:cNvPr id="175" name="sensitivity-plot-rmse-vs-reward.png" descr="sensitivity-plot-rmse-vs-reward.png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4641261" cy="309417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76" name="kT = 0.02, penalty = 0"/>
            <p:cNvSpPr txBox="1"/>
            <p:nvPr/>
          </p:nvSpPr>
          <p:spPr>
            <a:xfrm>
              <a:off x="1727620" y="2238620"/>
              <a:ext cx="2460461" cy="3869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1900"/>
              </a:lvl1pPr>
            </a:lstStyle>
            <a:p>
              <a:pPr/>
              <a:r>
                <a:t>kT = 0.02, penalty = 0</a:t>
              </a:r>
            </a:p>
          </p:txBody>
        </p:sp>
      </p:grpSp>
      <p:grpSp>
        <p:nvGrpSpPr>
          <p:cNvPr id="180" name="Group"/>
          <p:cNvGrpSpPr/>
          <p:nvPr/>
        </p:nvGrpSpPr>
        <p:grpSpPr>
          <a:xfrm>
            <a:off x="59039" y="2405248"/>
            <a:ext cx="4132691" cy="2613523"/>
            <a:chOff x="0" y="0"/>
            <a:chExt cx="4132689" cy="2613522"/>
          </a:xfrm>
        </p:grpSpPr>
        <p:pic>
          <p:nvPicPr>
            <p:cNvPr id="178" name="sensitivity-plot-rmse-vs-kt.png" descr="sensitivity-plot-rmse-vs-kt.png"/>
            <p:cNvPicPr>
              <a:picLocks noChangeAspect="1"/>
            </p:cNvPicPr>
            <p:nvPr/>
          </p:nvPicPr>
          <p:blipFill>
            <a:blip r:embed="rId4">
              <a:extLst/>
            </a:blip>
            <a:srcRect l="1725" t="9452" r="8383" b="5275"/>
            <a:stretch>
              <a:fillRect/>
            </a:stretch>
          </p:blipFill>
          <p:spPr>
            <a:xfrm>
              <a:off x="0" y="0"/>
              <a:ext cx="4132690" cy="261352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79" name="penalty = 0, reward = 0"/>
            <p:cNvSpPr txBox="1"/>
            <p:nvPr/>
          </p:nvSpPr>
          <p:spPr>
            <a:xfrm>
              <a:off x="1350819" y="1980583"/>
              <a:ext cx="2598484" cy="3869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1900"/>
              </a:lvl1pPr>
            </a:lstStyle>
            <a:p>
              <a:pPr/>
              <a:r>
                <a:t>penalty = 0, reward = 0</a:t>
              </a:r>
            </a:p>
          </p:txBody>
        </p:sp>
      </p:grpSp>
      <p:grpSp>
        <p:nvGrpSpPr>
          <p:cNvPr id="183" name="Group"/>
          <p:cNvGrpSpPr/>
          <p:nvPr/>
        </p:nvGrpSpPr>
        <p:grpSpPr>
          <a:xfrm>
            <a:off x="1981446" y="5252818"/>
            <a:ext cx="4641261" cy="3094175"/>
            <a:chOff x="0" y="0"/>
            <a:chExt cx="4641260" cy="3094173"/>
          </a:xfrm>
        </p:grpSpPr>
        <p:pic>
          <p:nvPicPr>
            <p:cNvPr id="181" name="sensitivity-reward-vs-npred.png" descr="sensitivity-reward-vs-npred.png"/>
            <p:cNvPicPr>
              <a:picLocks noChangeAspect="1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0" y="0"/>
              <a:ext cx="4641261" cy="309417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82" name="kT = 0.003"/>
            <p:cNvSpPr txBox="1"/>
            <p:nvPr/>
          </p:nvSpPr>
          <p:spPr>
            <a:xfrm>
              <a:off x="3232501" y="407342"/>
              <a:ext cx="898691" cy="2874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1300"/>
              </a:lvl1pPr>
            </a:lstStyle>
            <a:p>
              <a:pPr/>
              <a:r>
                <a:t>kT = 0.003</a:t>
              </a:r>
            </a:p>
          </p:txBody>
        </p:sp>
      </p:grpSp>
      <p:grpSp>
        <p:nvGrpSpPr>
          <p:cNvPr id="186" name="Group"/>
          <p:cNvGrpSpPr/>
          <p:nvPr/>
        </p:nvGrpSpPr>
        <p:grpSpPr>
          <a:xfrm>
            <a:off x="6340152" y="5252818"/>
            <a:ext cx="4641261" cy="3094175"/>
            <a:chOff x="0" y="0"/>
            <a:chExt cx="4641259" cy="3094173"/>
          </a:xfrm>
        </p:grpSpPr>
        <p:pic>
          <p:nvPicPr>
            <p:cNvPr id="184" name="sensitivity-penalty-vs-npred.png" descr="sensitivity-penalty-vs-npred.png"/>
            <p:cNvPicPr>
              <a:picLocks noChangeAspect="1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0" y="0"/>
              <a:ext cx="4641260" cy="309417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85" name="kT = 0.003"/>
            <p:cNvSpPr txBox="1"/>
            <p:nvPr/>
          </p:nvSpPr>
          <p:spPr>
            <a:xfrm>
              <a:off x="3255295" y="407342"/>
              <a:ext cx="898691" cy="2874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1300"/>
              </a:lvl1pPr>
            </a:lstStyle>
            <a:p>
              <a:pPr/>
              <a:r>
                <a:t>kT = 0.003</a:t>
              </a:r>
            </a:p>
          </p:txBody>
        </p:sp>
      </p:grpSp>
      <p:sp>
        <p:nvSpPr>
          <p:cNvPr id="187" name="Cell line: A549-ATCC"/>
          <p:cNvSpPr txBox="1"/>
          <p:nvPr/>
        </p:nvSpPr>
        <p:spPr>
          <a:xfrm>
            <a:off x="4901069" y="1523767"/>
            <a:ext cx="3202662" cy="4987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600"/>
            </a:lvl1pPr>
          </a:lstStyle>
          <a:p>
            <a:pPr/>
            <a:r>
              <a:t>Cell line: A549-ATCC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ensitivity plots for A549-ATCC"/>
          <p:cNvSpPr txBox="1"/>
          <p:nvPr>
            <p:ph type="title"/>
          </p:nvPr>
        </p:nvSpPr>
        <p:spPr>
          <a:xfrm>
            <a:off x="952500" y="-151043"/>
            <a:ext cx="11099800" cy="1115059"/>
          </a:xfrm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pPr/>
            <a:r>
              <a:t>Sensitivity plots for A549-ATCC</a:t>
            </a:r>
          </a:p>
        </p:txBody>
      </p:sp>
      <p:sp>
        <p:nvSpPr>
          <p:cNvPr id="190" name="50 replicates for each point"/>
          <p:cNvSpPr txBox="1"/>
          <p:nvPr/>
        </p:nvSpPr>
        <p:spPr>
          <a:xfrm>
            <a:off x="4436148" y="773322"/>
            <a:ext cx="4132505" cy="4987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600"/>
            </a:lvl1pPr>
          </a:lstStyle>
          <a:p>
            <a:pPr/>
            <a:r>
              <a:t>50 replicates for each point</a:t>
            </a:r>
          </a:p>
        </p:txBody>
      </p:sp>
      <p:pic>
        <p:nvPicPr>
          <p:cNvPr id="191" name="sensitivity-penalty-cross-reward-npred.png" descr="sensitivity-penalty-cross-reward-npred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30747" y="1913741"/>
            <a:ext cx="8133689" cy="3351796"/>
          </a:xfrm>
          <a:prstGeom prst="rect">
            <a:avLst/>
          </a:prstGeom>
          <a:ln w="12700">
            <a:miter lim="400000"/>
          </a:ln>
        </p:spPr>
      </p:pic>
      <p:sp>
        <p:nvSpPr>
          <p:cNvPr id="192" name="Text"/>
          <p:cNvSpPr txBox="1"/>
          <p:nvPr/>
        </p:nvSpPr>
        <p:spPr>
          <a:xfrm rot="16200000">
            <a:off x="9839286" y="3369184"/>
            <a:ext cx="977763" cy="4409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800"/>
            </a:lvl1pPr>
          </a:lstStyle>
          <a:p>
            <a:pPr/>
            <a14:m>
              <m:oMathPara>
                <m:oMathParaPr>
                  <m:jc m:val="left"/>
                </m:oMathParaPr>
                <m:oMath>
                  <m:sSub>
                    <m:e>
                      <m:r>
                        <a:rPr xmlns:a="http://schemas.openxmlformats.org/drawingml/2006/main" sz="2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e>
                    <m:sub>
                      <m:r>
                        <a:rPr xmlns:a="http://schemas.openxmlformats.org/drawingml/2006/main" sz="2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xmlns:a="http://schemas.openxmlformats.org/drawingml/2006/main" sz="2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21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21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1</m:t>
                  </m:r>
                </m:oMath>
              </m:oMathPara>
            </a14:m>
          </a:p>
        </p:txBody>
      </p:sp>
      <p:pic>
        <p:nvPicPr>
          <p:cNvPr id="193" name="sensitivity-penalty-cross-reward-npred.png" descr="sensitivity-penalty-cross-reward-npred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230906" y="4826595"/>
            <a:ext cx="8133240" cy="3351610"/>
          </a:xfrm>
          <a:prstGeom prst="rect">
            <a:avLst/>
          </a:prstGeom>
          <a:ln w="12700">
            <a:miter lim="400000"/>
          </a:ln>
        </p:spPr>
      </p:pic>
      <p:sp>
        <p:nvSpPr>
          <p:cNvPr id="194" name="Text"/>
          <p:cNvSpPr txBox="1"/>
          <p:nvPr/>
        </p:nvSpPr>
        <p:spPr>
          <a:xfrm rot="16200000">
            <a:off x="9839286" y="6281945"/>
            <a:ext cx="977763" cy="4409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800"/>
            </a:lvl1pPr>
          </a:lstStyle>
          <a:p>
            <a:pPr/>
            <a14:m>
              <m:oMathPara>
                <m:oMathParaPr>
                  <m:jc m:val="left"/>
                </m:oMathParaPr>
                <m:oMath>
                  <m:sSub>
                    <m:e>
                      <m:r>
                        <a:rPr xmlns:a="http://schemas.openxmlformats.org/drawingml/2006/main" sz="2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e>
                    <m:sub>
                      <m:r>
                        <a:rPr xmlns:a="http://schemas.openxmlformats.org/drawingml/2006/main" sz="2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xmlns:a="http://schemas.openxmlformats.org/drawingml/2006/main" sz="21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21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21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2</m:t>
                  </m:r>
                </m:oMath>
              </m:oMathPara>
            </a14:m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Figure 2: 1-celltype, A549-ATCC"/>
          <p:cNvSpPr txBox="1"/>
          <p:nvPr>
            <p:ph type="title"/>
          </p:nvPr>
        </p:nvSpPr>
        <p:spPr>
          <a:xfrm>
            <a:off x="952500" y="-35827"/>
            <a:ext cx="11099800" cy="1131779"/>
          </a:xfrm>
          <a:prstGeom prst="rect">
            <a:avLst/>
          </a:prstGeom>
        </p:spPr>
        <p:txBody>
          <a:bodyPr/>
          <a:lstStyle>
            <a:lvl1pPr>
              <a:defRPr sz="5000"/>
            </a:lvl1pPr>
          </a:lstStyle>
          <a:p>
            <a:pPr/>
            <a:r>
              <a:t>Figure 2: 1-celltype, A549-ATCC</a:t>
            </a:r>
          </a:p>
        </p:txBody>
      </p:sp>
      <p:pic>
        <p:nvPicPr>
          <p:cNvPr id="197" name="no-penalties-all-replicates-summary.png" descr="no-penalties-all-replicates-summary.png"/>
          <p:cNvPicPr>
            <a:picLocks noChangeAspect="1"/>
          </p:cNvPicPr>
          <p:nvPr/>
        </p:nvPicPr>
        <p:blipFill>
          <a:blip r:embed="rId2">
            <a:extLst/>
          </a:blip>
          <a:srcRect l="0" t="9096" r="0" b="0"/>
          <a:stretch>
            <a:fillRect/>
          </a:stretch>
        </p:blipFill>
        <p:spPr>
          <a:xfrm>
            <a:off x="38232" y="5579092"/>
            <a:ext cx="6405229" cy="3234779"/>
          </a:xfrm>
          <a:prstGeom prst="rect">
            <a:avLst/>
          </a:prstGeom>
          <a:ln w="12700">
            <a:miter lim="400000"/>
          </a:ln>
        </p:spPr>
      </p:pic>
      <p:pic>
        <p:nvPicPr>
          <p:cNvPr id="198" name="heatmap-byproduct-fraction-celltype-number-vs-rmse.png" descr="heatmap-byproduct-fraction-celltype-number-vs-rmse.png"/>
          <p:cNvPicPr>
            <a:picLocks noChangeAspect="1"/>
          </p:cNvPicPr>
          <p:nvPr/>
        </p:nvPicPr>
        <p:blipFill>
          <a:blip r:embed="rId3">
            <a:extLst/>
          </a:blip>
          <a:srcRect l="5999" t="8903" r="11317" b="3068"/>
          <a:stretch>
            <a:fillRect/>
          </a:stretch>
        </p:blipFill>
        <p:spPr>
          <a:xfrm>
            <a:off x="70260" y="2027820"/>
            <a:ext cx="4124278" cy="2927270"/>
          </a:xfrm>
          <a:prstGeom prst="rect">
            <a:avLst/>
          </a:prstGeom>
          <a:ln w="12700">
            <a:miter lim="400000"/>
          </a:ln>
        </p:spPr>
      </p:pic>
      <p:pic>
        <p:nvPicPr>
          <p:cNvPr id="199" name="no-penalties-prediction-comparison.png" descr="no-penalties-prediction-comparison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336212" y="2467282"/>
            <a:ext cx="4124326" cy="2356758"/>
          </a:xfrm>
          <a:prstGeom prst="rect">
            <a:avLst/>
          </a:prstGeom>
          <a:ln w="12700">
            <a:miter lim="400000"/>
          </a:ln>
        </p:spPr>
      </p:pic>
      <p:pic>
        <p:nvPicPr>
          <p:cNvPr id="200" name="with-reward-all-replicates-summary.png" descr="with-reward-all-replicates-summary.png"/>
          <p:cNvPicPr>
            <a:picLocks noChangeAspect="1"/>
          </p:cNvPicPr>
          <p:nvPr/>
        </p:nvPicPr>
        <p:blipFill>
          <a:blip r:embed="rId5">
            <a:extLst/>
          </a:blip>
          <a:srcRect l="0" t="9301" r="0" b="0"/>
          <a:stretch>
            <a:fillRect/>
          </a:stretch>
        </p:blipFill>
        <p:spPr>
          <a:xfrm>
            <a:off x="6480674" y="5582862"/>
            <a:ext cx="6405397" cy="32275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01" name="with-reward-prediction-comparison.png" descr="with-reward-prediction-comparison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8602165" y="2467282"/>
            <a:ext cx="4124327" cy="2356758"/>
          </a:xfrm>
          <a:prstGeom prst="rect">
            <a:avLst/>
          </a:prstGeom>
          <a:ln w="12700">
            <a:miter lim="400000"/>
          </a:ln>
        </p:spPr>
      </p:pic>
      <p:sp>
        <p:nvSpPr>
          <p:cNvPr id="202" name="Reward = 0"/>
          <p:cNvSpPr txBox="1"/>
          <p:nvPr/>
        </p:nvSpPr>
        <p:spPr>
          <a:xfrm>
            <a:off x="4826763" y="2254969"/>
            <a:ext cx="897180" cy="275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200"/>
            </a:lvl1pPr>
          </a:lstStyle>
          <a:p>
            <a:pPr/>
            <a:r>
              <a:t>Reward = 0</a:t>
            </a:r>
          </a:p>
        </p:txBody>
      </p:sp>
      <p:sp>
        <p:nvSpPr>
          <p:cNvPr id="203" name="Reward = 0.001"/>
          <p:cNvSpPr txBox="1"/>
          <p:nvPr/>
        </p:nvSpPr>
        <p:spPr>
          <a:xfrm>
            <a:off x="9086581" y="2254969"/>
            <a:ext cx="1193750" cy="275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200"/>
            </a:lvl1pPr>
          </a:lstStyle>
          <a:p>
            <a:pPr/>
            <a:r>
              <a:t>Reward = 0.001</a:t>
            </a:r>
          </a:p>
        </p:txBody>
      </p:sp>
      <p:sp>
        <p:nvSpPr>
          <p:cNvPr id="204" name="kT = 0.003, reward and penalty = 0"/>
          <p:cNvSpPr txBox="1"/>
          <p:nvPr/>
        </p:nvSpPr>
        <p:spPr>
          <a:xfrm>
            <a:off x="400748" y="1855763"/>
            <a:ext cx="2488083" cy="275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200"/>
            </a:lvl1pPr>
          </a:lstStyle>
          <a:p>
            <a:pPr/>
            <a:r>
              <a:t>kT = 0.003, reward and penalty = 0</a:t>
            </a:r>
          </a:p>
        </p:txBody>
      </p:sp>
      <p:sp>
        <p:nvSpPr>
          <p:cNvPr id="205" name="Reward = 0"/>
          <p:cNvSpPr txBox="1"/>
          <p:nvPr/>
        </p:nvSpPr>
        <p:spPr>
          <a:xfrm>
            <a:off x="2945886" y="5218809"/>
            <a:ext cx="897180" cy="275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200"/>
            </a:lvl1pPr>
          </a:lstStyle>
          <a:p>
            <a:pPr/>
            <a:r>
              <a:t>Reward = 0</a:t>
            </a:r>
          </a:p>
        </p:txBody>
      </p:sp>
      <p:sp>
        <p:nvSpPr>
          <p:cNvPr id="206" name="Reward = 0.001"/>
          <p:cNvSpPr txBox="1"/>
          <p:nvPr/>
        </p:nvSpPr>
        <p:spPr>
          <a:xfrm>
            <a:off x="9086581" y="5199681"/>
            <a:ext cx="1193750" cy="275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200"/>
            </a:lvl1pPr>
          </a:lstStyle>
          <a:p>
            <a:pPr/>
            <a:r>
              <a:t>Reward = 0.001</a:t>
            </a:r>
          </a:p>
        </p:txBody>
      </p:sp>
      <p:sp>
        <p:nvSpPr>
          <p:cNvPr id="207" name="A"/>
          <p:cNvSpPr txBox="1"/>
          <p:nvPr/>
        </p:nvSpPr>
        <p:spPr>
          <a:xfrm>
            <a:off x="29747" y="1793685"/>
            <a:ext cx="278893" cy="399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/>
            </a:lvl1pPr>
          </a:lstStyle>
          <a:p>
            <a:pPr/>
            <a:r>
              <a:t>A</a:t>
            </a:r>
          </a:p>
        </p:txBody>
      </p:sp>
      <p:sp>
        <p:nvSpPr>
          <p:cNvPr id="208" name="B"/>
          <p:cNvSpPr txBox="1"/>
          <p:nvPr/>
        </p:nvSpPr>
        <p:spPr>
          <a:xfrm>
            <a:off x="4360447" y="1793685"/>
            <a:ext cx="288291" cy="399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/>
            </a:lvl1pPr>
          </a:lstStyle>
          <a:p>
            <a:pPr/>
            <a:r>
              <a:t>B</a:t>
            </a:r>
          </a:p>
        </p:txBody>
      </p:sp>
      <p:sp>
        <p:nvSpPr>
          <p:cNvPr id="209" name="C"/>
          <p:cNvSpPr txBox="1"/>
          <p:nvPr/>
        </p:nvSpPr>
        <p:spPr>
          <a:xfrm>
            <a:off x="25048" y="5137604"/>
            <a:ext cx="297689" cy="399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/>
            </a:lvl1pPr>
          </a:lstStyle>
          <a:p>
            <a:pPr/>
            <a:r>
              <a:t>C</a:t>
            </a:r>
          </a:p>
        </p:txBody>
      </p:sp>
      <p:sp>
        <p:nvSpPr>
          <p:cNvPr id="210" name="D"/>
          <p:cNvSpPr txBox="1"/>
          <p:nvPr/>
        </p:nvSpPr>
        <p:spPr>
          <a:xfrm>
            <a:off x="6355841" y="5137604"/>
            <a:ext cx="293117" cy="399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/>
            </a:lvl1pPr>
          </a:lstStyle>
          <a:p>
            <a:pPr/>
            <a:r>
              <a:t>D</a:t>
            </a:r>
          </a:p>
        </p:txBody>
      </p:sp>
      <p:sp>
        <p:nvSpPr>
          <p:cNvPr id="211" name="i."/>
          <p:cNvSpPr txBox="1"/>
          <p:nvPr/>
        </p:nvSpPr>
        <p:spPr>
          <a:xfrm>
            <a:off x="53242" y="5540755"/>
            <a:ext cx="241301" cy="399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/>
            </a:lvl1pPr>
          </a:lstStyle>
          <a:p>
            <a:pPr/>
            <a:r>
              <a:t>i.</a:t>
            </a:r>
          </a:p>
        </p:txBody>
      </p:sp>
      <p:sp>
        <p:nvSpPr>
          <p:cNvPr id="212" name="ii."/>
          <p:cNvSpPr txBox="1"/>
          <p:nvPr/>
        </p:nvSpPr>
        <p:spPr>
          <a:xfrm>
            <a:off x="3219098" y="5540755"/>
            <a:ext cx="297689" cy="399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/>
            </a:lvl1pPr>
          </a:lstStyle>
          <a:p>
            <a:pPr/>
            <a:r>
              <a:t>ii.</a:t>
            </a:r>
          </a:p>
        </p:txBody>
      </p:sp>
      <p:sp>
        <p:nvSpPr>
          <p:cNvPr id="213" name="iii."/>
          <p:cNvSpPr txBox="1"/>
          <p:nvPr/>
        </p:nvSpPr>
        <p:spPr>
          <a:xfrm>
            <a:off x="3219098" y="6912355"/>
            <a:ext cx="354077" cy="399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/>
            </a:lvl1pPr>
          </a:lstStyle>
          <a:p>
            <a:pPr/>
            <a:r>
              <a:t>iii.</a:t>
            </a:r>
          </a:p>
        </p:txBody>
      </p:sp>
      <p:sp>
        <p:nvSpPr>
          <p:cNvPr id="214" name="i."/>
          <p:cNvSpPr txBox="1"/>
          <p:nvPr/>
        </p:nvSpPr>
        <p:spPr>
          <a:xfrm>
            <a:off x="6618989" y="5464555"/>
            <a:ext cx="241301" cy="399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/>
            </a:lvl1pPr>
          </a:lstStyle>
          <a:p>
            <a:pPr/>
            <a:r>
              <a:t>i.</a:t>
            </a:r>
          </a:p>
        </p:txBody>
      </p:sp>
      <p:sp>
        <p:nvSpPr>
          <p:cNvPr id="215" name="ii."/>
          <p:cNvSpPr txBox="1"/>
          <p:nvPr/>
        </p:nvSpPr>
        <p:spPr>
          <a:xfrm>
            <a:off x="9636211" y="5464555"/>
            <a:ext cx="297689" cy="399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/>
            </a:lvl1pPr>
          </a:lstStyle>
          <a:p>
            <a:pPr/>
            <a:r>
              <a:t>ii.</a:t>
            </a:r>
          </a:p>
        </p:txBody>
      </p:sp>
      <p:sp>
        <p:nvSpPr>
          <p:cNvPr id="216" name="iii."/>
          <p:cNvSpPr txBox="1"/>
          <p:nvPr/>
        </p:nvSpPr>
        <p:spPr>
          <a:xfrm>
            <a:off x="9608017" y="6912355"/>
            <a:ext cx="354077" cy="399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/>
            </a:lvl1pPr>
          </a:lstStyle>
          <a:p>
            <a:pPr/>
            <a:r>
              <a:t>iii.</a:t>
            </a:r>
          </a:p>
        </p:txBody>
      </p:sp>
      <p:sp>
        <p:nvSpPr>
          <p:cNvPr id="217" name="i."/>
          <p:cNvSpPr txBox="1"/>
          <p:nvPr/>
        </p:nvSpPr>
        <p:spPr>
          <a:xfrm>
            <a:off x="4442324" y="2192891"/>
            <a:ext cx="241301" cy="399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/>
            </a:lvl1pPr>
          </a:lstStyle>
          <a:p>
            <a:pPr/>
            <a:r>
              <a:t>i.</a:t>
            </a:r>
          </a:p>
        </p:txBody>
      </p:sp>
      <p:sp>
        <p:nvSpPr>
          <p:cNvPr id="218" name="ii."/>
          <p:cNvSpPr txBox="1"/>
          <p:nvPr/>
        </p:nvSpPr>
        <p:spPr>
          <a:xfrm>
            <a:off x="8700545" y="2192891"/>
            <a:ext cx="297689" cy="399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/>
            </a:lvl1pPr>
          </a:lstStyle>
          <a:p>
            <a:pPr/>
            <a:r>
              <a:t>ii.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42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42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